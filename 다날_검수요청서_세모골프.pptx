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6" r:id="rId12"/>
    <p:sldId id="267" r:id="rId13"/>
    <p:sldId id="26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E6E6E6"/>
    <a:srgbClr val="1543E7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79968-9213-4663-9BE0-25B0F715460E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53AFE-0B2E-469C-9A8C-EE46620EB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417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228410"/>
            <a:ext cx="4114800" cy="365125"/>
          </a:xfrm>
        </p:spPr>
        <p:txBody>
          <a:bodyPr/>
          <a:lstStyle>
            <a:lvl1pPr>
              <a:defRPr sz="1000"/>
            </a:lvl1pPr>
          </a:lstStyle>
          <a:p>
            <a:r>
              <a:rPr kumimoji="1" lang="en-US" altLang="ko-KR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16" name="Rectangle 40"/>
          <p:cNvSpPr>
            <a:spLocks noChangeArrowheads="1"/>
          </p:cNvSpPr>
          <p:nvPr userDrawn="1"/>
        </p:nvSpPr>
        <p:spPr bwMode="auto">
          <a:xfrm>
            <a:off x="4907197" y="4082344"/>
            <a:ext cx="6415234" cy="369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45715" rIns="91429" bIns="45715" anchor="ctr">
            <a:spAutoFit/>
          </a:bodyPr>
          <a:lstStyle/>
          <a:p>
            <a:pPr lvl="0" algn="r"/>
            <a:r>
              <a:rPr lang="ko-KR" altLang="en-US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본 문서의 저작권은 ㈜</a:t>
            </a:r>
            <a:r>
              <a:rPr lang="ko-KR" altLang="en-US" sz="900" spc="-80" dirty="0" err="1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다날</a:t>
            </a:r>
            <a:r>
              <a:rPr lang="ko-KR" altLang="en-US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 소유이므로 사전 허가 없이 무단전재</a:t>
            </a:r>
            <a:r>
              <a:rPr lang="en-US" altLang="ko-KR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, </a:t>
            </a:r>
            <a:r>
              <a:rPr lang="ko-KR" altLang="en-US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복사</a:t>
            </a:r>
            <a:r>
              <a:rPr lang="en-US" altLang="ko-KR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, </a:t>
            </a:r>
            <a:r>
              <a:rPr lang="ko-KR" altLang="en-US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유출</a:t>
            </a:r>
            <a:r>
              <a:rPr lang="en-US" altLang="ko-KR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, </a:t>
            </a:r>
            <a:r>
              <a:rPr lang="ko-KR" altLang="en-US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유포한 </a:t>
            </a:r>
            <a:r>
              <a:rPr lang="ko-KR" altLang="en-US" sz="900" spc="-80" dirty="0" smtClean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자는</a:t>
            </a:r>
            <a:endParaRPr lang="en-US" altLang="ko-KR" sz="900" spc="-80" dirty="0" smtClean="0">
              <a:solidFill>
                <a:srgbClr val="525252"/>
              </a:solidFill>
              <a:latin typeface="맑은 고딕" pitchFamily="50" charset="-127"/>
              <a:ea typeface="맑은 고딕" pitchFamily="50" charset="-127"/>
              <a:sym typeface="Wingdings 3" pitchFamily="18" charset="2"/>
            </a:endParaRPr>
          </a:p>
          <a:p>
            <a:pPr lvl="0" algn="r"/>
            <a:r>
              <a:rPr lang="ko-KR" altLang="en-US" sz="900" spc="-80" dirty="0" smtClean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이로 </a:t>
            </a:r>
            <a:r>
              <a:rPr lang="ko-KR" altLang="en-US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인하여 발생한 당사의 모든 불이익에 대하여</a:t>
            </a:r>
            <a:r>
              <a:rPr lang="en-US" altLang="ko-KR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 </a:t>
            </a:r>
            <a:r>
              <a:rPr lang="ko-KR" altLang="en-US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금전적 손해배상은 물론 관계법령에 의한 민</a:t>
            </a:r>
            <a:r>
              <a:rPr lang="en-US" altLang="ko-KR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.</a:t>
            </a:r>
            <a:r>
              <a:rPr lang="ko-KR" altLang="en-US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형사상의 </a:t>
            </a:r>
            <a:r>
              <a:rPr lang="en-US" altLang="ko-KR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 </a:t>
            </a:r>
            <a:r>
              <a:rPr lang="ko-KR" altLang="en-US" sz="900" spc="-80" dirty="0" smtClean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처벌을 </a:t>
            </a:r>
            <a:r>
              <a:rPr lang="ko-KR" altLang="en-US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감수하여야 합니다</a:t>
            </a:r>
            <a:r>
              <a:rPr lang="en-US" altLang="ko-KR" sz="900" spc="-80" dirty="0">
                <a:solidFill>
                  <a:srgbClr val="525252"/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. </a:t>
            </a:r>
          </a:p>
        </p:txBody>
      </p:sp>
      <p:cxnSp>
        <p:nvCxnSpPr>
          <p:cNvPr id="17" name="직선 연결선 16"/>
          <p:cNvCxnSpPr/>
          <p:nvPr userDrawn="1"/>
        </p:nvCxnSpPr>
        <p:spPr>
          <a:xfrm>
            <a:off x="919179" y="3994431"/>
            <a:ext cx="10353643" cy="0"/>
          </a:xfrm>
          <a:prstGeom prst="line">
            <a:avLst/>
          </a:prstGeom>
          <a:ln>
            <a:solidFill>
              <a:srgbClr val="5252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제목 7"/>
          <p:cNvSpPr txBox="1">
            <a:spLocks/>
          </p:cNvSpPr>
          <p:nvPr userDrawn="1"/>
        </p:nvSpPr>
        <p:spPr>
          <a:xfrm>
            <a:off x="2428141" y="2249530"/>
            <a:ext cx="8894290" cy="693747"/>
          </a:xfrm>
          <a:prstGeom prst="rect">
            <a:avLst/>
          </a:prstGeom>
        </p:spPr>
        <p:txBody>
          <a:bodyPr/>
          <a:lstStyle/>
          <a:p>
            <a:pPr lvl="0" algn="r">
              <a:lnSpc>
                <a:spcPct val="120000"/>
              </a:lnSpc>
              <a:defRPr/>
            </a:pPr>
            <a:r>
              <a:rPr kumimoji="0" lang="ko-KR" altLang="en-US" sz="3400" b="1" kern="1200" spc="-80" noProof="0" dirty="0" err="1">
                <a:solidFill>
                  <a:srgbClr val="525252"/>
                </a:solidFill>
                <a:latin typeface="+mn-ea"/>
                <a:cs typeface="Arial" pitchFamily="34" charset="0"/>
              </a:rPr>
              <a:t>서브몰</a:t>
            </a:r>
            <a:r>
              <a:rPr kumimoji="0" lang="ko-KR" altLang="en-US" sz="3400" b="1" kern="1200" spc="-80" noProof="0" dirty="0">
                <a:solidFill>
                  <a:srgbClr val="525252"/>
                </a:solidFill>
                <a:latin typeface="+mn-ea"/>
                <a:cs typeface="Arial" pitchFamily="34" charset="0"/>
              </a:rPr>
              <a:t> </a:t>
            </a:r>
            <a:r>
              <a:rPr kumimoji="0" lang="ko-KR" altLang="en-US" sz="3400" b="1" kern="1200" spc="-80" noProof="0" dirty="0" smtClean="0">
                <a:solidFill>
                  <a:srgbClr val="525252"/>
                </a:solidFill>
                <a:latin typeface="+mn-ea"/>
                <a:cs typeface="Arial" pitchFamily="34" charset="0"/>
              </a:rPr>
              <a:t>등록</a:t>
            </a:r>
            <a:endParaRPr kumimoji="0" lang="ko-KR" altLang="en-US" sz="4400" b="1" kern="1200" spc="-80" noProof="0" dirty="0">
              <a:solidFill>
                <a:srgbClr val="525252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" name="제목 7"/>
          <p:cNvSpPr txBox="1">
            <a:spLocks/>
          </p:cNvSpPr>
          <p:nvPr userDrawn="1"/>
        </p:nvSpPr>
        <p:spPr>
          <a:xfrm>
            <a:off x="8351054" y="3206295"/>
            <a:ext cx="2971377" cy="451305"/>
          </a:xfrm>
          <a:prstGeom prst="rect">
            <a:avLst/>
          </a:prstGeom>
        </p:spPr>
        <p:txBody>
          <a:bodyPr/>
          <a:lstStyle/>
          <a:p>
            <a:pPr lvl="0" algn="r">
              <a:lnSpc>
                <a:spcPct val="120000"/>
              </a:lnSpc>
              <a:defRPr/>
            </a:pPr>
            <a:r>
              <a:rPr kumimoji="0" lang="ko-KR" altLang="en-US" sz="2150" b="1" kern="1200" spc="-80" noProof="0" dirty="0">
                <a:solidFill>
                  <a:srgbClr val="525252"/>
                </a:solidFill>
                <a:latin typeface="+mn-ea"/>
                <a:ea typeface="+mn-ea"/>
                <a:cs typeface="Arial" pitchFamily="34" charset="0"/>
              </a:rPr>
              <a:t>결제 프로세스</a:t>
            </a:r>
            <a:r>
              <a:rPr kumimoji="0" lang="en-US" altLang="ko-KR" sz="2150" b="1" kern="1200" spc="-80" noProof="0" dirty="0">
                <a:solidFill>
                  <a:srgbClr val="525252"/>
                </a:solidFill>
                <a:latin typeface="+mn-ea"/>
                <a:ea typeface="+mn-ea"/>
                <a:cs typeface="Arial" pitchFamily="34" charset="0"/>
              </a:rPr>
              <a:t>(</a:t>
            </a:r>
            <a:r>
              <a:rPr kumimoji="0" lang="ko-KR" altLang="en-US" sz="2150" b="1" kern="1200" spc="-80" noProof="0" dirty="0">
                <a:solidFill>
                  <a:srgbClr val="525252"/>
                </a:solidFill>
                <a:latin typeface="+mn-ea"/>
                <a:ea typeface="+mn-ea"/>
                <a:cs typeface="Arial" pitchFamily="34" charset="0"/>
              </a:rPr>
              <a:t>경로</a:t>
            </a:r>
            <a:r>
              <a:rPr kumimoji="0" lang="en-US" altLang="ko-KR" sz="2150" b="1" kern="1200" spc="-80" noProof="0" dirty="0" smtClean="0">
                <a:solidFill>
                  <a:srgbClr val="525252"/>
                </a:solidFill>
                <a:latin typeface="+mn-ea"/>
                <a:ea typeface="+mn-ea"/>
                <a:cs typeface="Arial" pitchFamily="34" charset="0"/>
              </a:rPr>
              <a:t>)</a:t>
            </a:r>
            <a:endParaRPr kumimoji="0" lang="ko-KR" altLang="en-US" sz="2150" b="1" kern="1200" spc="-80" noProof="0" dirty="0">
              <a:solidFill>
                <a:srgbClr val="525252"/>
              </a:solidFill>
              <a:latin typeface="+mn-ea"/>
              <a:ea typeface="+mn-ea"/>
              <a:cs typeface="Arial" pitchFamily="34" charset="0"/>
            </a:endParaRPr>
          </a:p>
        </p:txBody>
      </p:sp>
      <p:pic>
        <p:nvPicPr>
          <p:cNvPr id="20" name="그림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086" y="1068681"/>
            <a:ext cx="955851" cy="382432"/>
          </a:xfrm>
          <a:prstGeom prst="rect">
            <a:avLst/>
          </a:prstGeom>
        </p:spPr>
      </p:pic>
      <p:sp>
        <p:nvSpPr>
          <p:cNvPr id="22" name="텍스트 개체 틀 21"/>
          <p:cNvSpPr>
            <a:spLocks noGrp="1"/>
          </p:cNvSpPr>
          <p:nvPr>
            <p:ph type="body" sz="quarter" idx="12" hasCustomPrompt="1"/>
          </p:nvPr>
        </p:nvSpPr>
        <p:spPr>
          <a:xfrm>
            <a:off x="4718650" y="1545175"/>
            <a:ext cx="6603782" cy="914400"/>
          </a:xfr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4800" b="1" spc="-80" baseline="0">
                <a:solidFill>
                  <a:srgbClr val="1543E7"/>
                </a:solidFill>
              </a:defRPr>
            </a:lvl1pPr>
          </a:lstStyle>
          <a:p>
            <a:pPr lvl="0"/>
            <a:r>
              <a:rPr lang="ko-KR" altLang="en-US" dirty="0" smtClean="0"/>
              <a:t>상호명</a:t>
            </a:r>
            <a:endParaRPr lang="ko-KR" altLang="en-US" dirty="0"/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3" hasCustomPrompt="1"/>
          </p:nvPr>
        </p:nvSpPr>
        <p:spPr>
          <a:xfrm>
            <a:off x="7640413" y="3664884"/>
            <a:ext cx="3632409" cy="301438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b="1" baseline="0">
                <a:solidFill>
                  <a:srgbClr val="1543E7"/>
                </a:solidFill>
              </a:defRPr>
            </a:lvl1pPr>
          </a:lstStyle>
          <a:p>
            <a:pPr lvl="0"/>
            <a:r>
              <a:rPr lang="ko-KR" altLang="en-US" dirty="0" smtClean="0"/>
              <a:t>사이트 </a:t>
            </a:r>
            <a:r>
              <a:rPr lang="en-US" altLang="ko-KR" dirty="0" smtClean="0"/>
              <a:t>URL / </a:t>
            </a:r>
            <a:r>
              <a:rPr lang="ko-KR" altLang="en-US" dirty="0" smtClean="0"/>
              <a:t>플레이스토어</a:t>
            </a:r>
            <a:r>
              <a:rPr lang="en-US" altLang="ko-KR" dirty="0" smtClean="0"/>
              <a:t>or</a:t>
            </a:r>
            <a:r>
              <a:rPr lang="ko-KR" altLang="en-US" dirty="0" smtClean="0"/>
              <a:t>앱스토어 </a:t>
            </a:r>
            <a:r>
              <a:rPr lang="en-US" altLang="ko-KR" dirty="0" smtClean="0"/>
              <a:t>URL</a:t>
            </a:r>
            <a:endParaRPr lang="ko-KR" altLang="en-US" dirty="0"/>
          </a:p>
        </p:txBody>
      </p:sp>
      <p:graphicFrame>
        <p:nvGraphicFramePr>
          <p:cNvPr id="25" name="Group 1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21571497"/>
              </p:ext>
            </p:extLst>
          </p:nvPr>
        </p:nvGraphicFramePr>
        <p:xfrm>
          <a:off x="8551418" y="5045586"/>
          <a:ext cx="2790673" cy="998921"/>
        </p:xfrm>
        <a:graphic>
          <a:graphicData uri="http://schemas.openxmlformats.org/drawingml/2006/table">
            <a:tbl>
              <a:tblPr/>
              <a:tblGrid>
                <a:gridCol w="98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467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1200" dirty="0">
                          <a:solidFill>
                            <a:srgbClr val="525252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성 일 자 </a:t>
                      </a:r>
                      <a:endParaRPr kumimoji="1" lang="en-US" altLang="ko-KR" sz="1000" kern="1200" dirty="0">
                        <a:solidFill>
                          <a:srgbClr val="52525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5" marR="35995" marT="17998" marB="17998" anchor="ctr" horzOverflow="overflow">
                    <a:lnL cap="flat">
                      <a:noFill/>
                    </a:lnL>
                    <a:lnR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1543E7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5" marR="35995" marT="17998" marB="17998" anchor="ctr" horzOverflow="overflow">
                    <a:lnL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866"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1200" dirty="0">
                          <a:solidFill>
                            <a:srgbClr val="525252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  성   자 </a:t>
                      </a:r>
                      <a:endParaRPr kumimoji="1" lang="en-US" altLang="ko-KR" sz="1000" kern="1200" dirty="0">
                        <a:solidFill>
                          <a:srgbClr val="52525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5" marR="35995" marT="17998" marB="17998" anchor="ctr" horzOverflow="overflow">
                    <a:lnL cap="flat">
                      <a:noFill/>
                    </a:lnL>
                    <a:lnR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1543E7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1200" dirty="0" smtClean="0">
                          <a:solidFill>
                            <a:srgbClr val="525252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문 서 관 리 자 </a:t>
                      </a:r>
                      <a:endParaRPr kumimoji="1" lang="en-US" altLang="ko-KR" sz="1000" kern="1200" dirty="0">
                        <a:solidFill>
                          <a:srgbClr val="52525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5" marR="35995" marT="17998" marB="17998" anchor="ctr" horzOverflow="overflow">
                    <a:lnL cap="flat">
                      <a:noFill/>
                    </a:lnL>
                    <a:lnR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㈜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다날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사업본부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525252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9549741" y="5075722"/>
            <a:ext cx="991738" cy="247692"/>
          </a:xfrm>
        </p:spPr>
        <p:txBody>
          <a:bodyPr anchor="ctr">
            <a:normAutofit/>
          </a:bodyPr>
          <a:lstStyle>
            <a:lvl1pPr marL="0" indent="0">
              <a:buNone/>
              <a:defRPr sz="1000" b="1">
                <a:solidFill>
                  <a:srgbClr val="1543E7"/>
                </a:solidFill>
              </a:defRPr>
            </a:lvl1pPr>
          </a:lstStyle>
          <a:p>
            <a:pPr lvl="0"/>
            <a:r>
              <a:rPr lang="en-US" altLang="ko-KR" dirty="0" smtClean="0"/>
              <a:t>20XX.XX.XX</a:t>
            </a:r>
            <a:endParaRPr lang="ko-KR" altLang="en-US" dirty="0"/>
          </a:p>
        </p:txBody>
      </p:sp>
      <p:sp>
        <p:nvSpPr>
          <p:cNvPr id="28" name="텍스트 개체 틀 26"/>
          <p:cNvSpPr>
            <a:spLocks noGrp="1"/>
          </p:cNvSpPr>
          <p:nvPr>
            <p:ph type="body" sz="quarter" idx="15" hasCustomPrompt="1"/>
          </p:nvPr>
        </p:nvSpPr>
        <p:spPr>
          <a:xfrm>
            <a:off x="9549741" y="5436268"/>
            <a:ext cx="991738" cy="247692"/>
          </a:xfrm>
        </p:spPr>
        <p:txBody>
          <a:bodyPr anchor="ctr">
            <a:normAutofit/>
          </a:bodyPr>
          <a:lstStyle>
            <a:lvl1pPr marL="0" indent="0">
              <a:buNone/>
              <a:defRPr sz="1000" b="1">
                <a:solidFill>
                  <a:srgbClr val="1543E7"/>
                </a:solidFill>
              </a:defRPr>
            </a:lvl1pPr>
          </a:lstStyle>
          <a:p>
            <a:pPr lvl="0"/>
            <a:r>
              <a:rPr lang="en-US" altLang="ko-KR" dirty="0" smtClean="0"/>
              <a:t>OO</a:t>
            </a:r>
            <a:r>
              <a:rPr lang="ko-KR" altLang="en-US" dirty="0" smtClean="0"/>
              <a:t>팀 </a:t>
            </a:r>
            <a:r>
              <a:rPr lang="en-US" altLang="ko-KR" dirty="0" smtClean="0"/>
              <a:t>OOO</a:t>
            </a:r>
            <a:endParaRPr lang="ko-KR" altLang="en-US" dirty="0"/>
          </a:p>
        </p:txBody>
      </p:sp>
      <p:sp>
        <p:nvSpPr>
          <p:cNvPr id="29" name="직사각형 28"/>
          <p:cNvSpPr/>
          <p:nvPr userDrawn="1"/>
        </p:nvSpPr>
        <p:spPr>
          <a:xfrm>
            <a:off x="342181" y="264466"/>
            <a:ext cx="11507639" cy="6329069"/>
          </a:xfrm>
          <a:prstGeom prst="rect">
            <a:avLst/>
          </a:prstGeom>
          <a:noFill/>
          <a:ln w="38100">
            <a:solidFill>
              <a:srgbClr val="5252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8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모서리가 둥근 직사각형 8"/>
          <p:cNvSpPr/>
          <p:nvPr userDrawn="1"/>
        </p:nvSpPr>
        <p:spPr>
          <a:xfrm>
            <a:off x="342181" y="733245"/>
            <a:ext cx="11507639" cy="5860290"/>
          </a:xfrm>
          <a:prstGeom prst="roundRect">
            <a:avLst>
              <a:gd name="adj" fmla="val 8837"/>
            </a:avLst>
          </a:prstGeom>
          <a:solidFill>
            <a:schemeClr val="bg1"/>
          </a:solidFill>
          <a:ln w="38100">
            <a:noFill/>
          </a:ln>
          <a:effectLst>
            <a:outerShdw blurRad="2159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228410"/>
            <a:ext cx="4114800" cy="365125"/>
          </a:xfrm>
        </p:spPr>
        <p:txBody>
          <a:bodyPr/>
          <a:lstStyle>
            <a:lvl1pPr>
              <a:defRPr sz="1000"/>
            </a:lvl1pPr>
          </a:lstStyle>
          <a:p>
            <a:r>
              <a:rPr kumimoji="1" lang="en-US" altLang="ko-KR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2" hasCustomPrompt="1"/>
          </p:nvPr>
        </p:nvSpPr>
        <p:spPr>
          <a:xfrm>
            <a:off x="411252" y="233272"/>
            <a:ext cx="5684748" cy="499973"/>
          </a:xfrm>
        </p:spPr>
        <p:txBody>
          <a:bodyPr anchor="ctr">
            <a:noAutofit/>
          </a:bodyPr>
          <a:lstStyle>
            <a:lvl1pPr marL="0" indent="0">
              <a:buNone/>
              <a:defRPr sz="2400" b="1" spc="-100" baseline="0">
                <a:solidFill>
                  <a:srgbClr val="525252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 err="1" smtClean="0"/>
              <a:t>검수내용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914083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228410"/>
            <a:ext cx="4114800" cy="365125"/>
          </a:xfrm>
        </p:spPr>
        <p:txBody>
          <a:bodyPr/>
          <a:lstStyle>
            <a:lvl1pPr>
              <a:defRPr sz="1000"/>
            </a:lvl1pPr>
          </a:lstStyle>
          <a:p>
            <a:r>
              <a:rPr kumimoji="1" lang="en-US" altLang="ko-KR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8" name="제목 7"/>
          <p:cNvSpPr txBox="1">
            <a:spLocks/>
          </p:cNvSpPr>
          <p:nvPr userDrawn="1"/>
        </p:nvSpPr>
        <p:spPr>
          <a:xfrm>
            <a:off x="1648855" y="3082127"/>
            <a:ext cx="8894290" cy="693747"/>
          </a:xfrm>
          <a:prstGeom prst="rect">
            <a:avLst/>
          </a:prstGeom>
        </p:spPr>
        <p:txBody>
          <a:bodyPr/>
          <a:lstStyle/>
          <a:p>
            <a:pPr lvl="0" algn="ctr">
              <a:lnSpc>
                <a:spcPct val="120000"/>
              </a:lnSpc>
              <a:defRPr/>
            </a:pPr>
            <a:r>
              <a:rPr kumimoji="0" lang="ko-KR" altLang="en-US" sz="4000" b="1" kern="1200" spc="-80" noProof="0" dirty="0" smtClean="0">
                <a:solidFill>
                  <a:srgbClr val="525252"/>
                </a:solidFill>
                <a:latin typeface="+mn-ea"/>
                <a:cs typeface="Arial" pitchFamily="34" charset="0"/>
              </a:rPr>
              <a:t>감사합니다</a:t>
            </a:r>
            <a:r>
              <a:rPr kumimoji="0" lang="en-US" altLang="ko-KR" sz="4000" b="1" kern="1200" spc="-80" noProof="0" dirty="0" smtClean="0">
                <a:solidFill>
                  <a:srgbClr val="525252"/>
                </a:solidFill>
                <a:latin typeface="+mn-ea"/>
                <a:cs typeface="Arial" pitchFamily="34" charset="0"/>
              </a:rPr>
              <a:t>.</a:t>
            </a:r>
            <a:endParaRPr kumimoji="0" lang="ko-KR" altLang="en-US" sz="5400" b="1" kern="1200" spc="-80" noProof="0" dirty="0">
              <a:solidFill>
                <a:srgbClr val="525252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342181" y="264466"/>
            <a:ext cx="11507639" cy="6329069"/>
          </a:xfrm>
          <a:prstGeom prst="rect">
            <a:avLst/>
          </a:prstGeom>
          <a:noFill/>
          <a:ln w="38100">
            <a:solidFill>
              <a:srgbClr val="5252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658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Corporate Introduction @ DANAL Co., Ltd. All Rights Reserved.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88DBC-E5C1-42B0-904E-FD42ACC1C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7446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Corporate Introduction @ DANAL Co., Ltd. All Rights Reserved.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88DBC-E5C1-42B0-904E-FD42ACC1C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059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Corporate Introduction @ DANAL Co., Ltd. All Rights Reserved.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88DBC-E5C1-42B0-904E-FD42ACC1C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91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Corporate Introduction @ DANAL Co., Ltd. All Rights Reserved.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88DBC-E5C1-42B0-904E-FD42ACC1C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036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Corporate Introduction @ DANAL Co., Ltd. All Rights Reserved.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88DBC-E5C1-42B0-904E-FD42ACC1C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0216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Corporate Introduction @ DANAL Co., Ltd. All Rights Reserved.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88DBC-E5C1-42B0-904E-FD42ACC1C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8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Corporate Introduction @ DANAL Co., Ltd. All Rights Reserved.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88DBC-E5C1-42B0-904E-FD42ACC1C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149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Corporate Introduction @ DANAL Co., Ltd. All Rights Reserved.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88DBC-E5C1-42B0-904E-FD42ACC1C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590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Corporate Introduction @ DANAL Co., Ltd. All Rights Reserved.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88DBC-E5C1-42B0-904E-FD42ACC1C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742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smtClean="0"/>
              <a:t>Corporate Introduction @ DANAL Co., Ltd. All Rights Reserved.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88DBC-E5C1-42B0-904E-FD42ACC1C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88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상 호 명: </a:t>
            </a:r>
            <a:r>
              <a:rPr sz="1400">
                <a:solidFill>
                  <a:srgbClr val="000000"/>
                </a:solidFill>
              </a:rPr>
              <a:t>세모골프 (bibl lab)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서비스 URL: </a:t>
            </a:r>
            <a:r>
              <a:rPr sz="1400">
                <a:solidFill>
                  <a:srgbClr val="000000"/>
                </a:solidFill>
              </a:rPr>
              <a:t>https://www.bibllab.com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결제 프로세스: </a:t>
            </a:r>
            <a:r>
              <a:rPr sz="1400">
                <a:solidFill>
                  <a:srgbClr val="000000"/>
                </a:solidFill>
              </a:rPr>
              <a:t>요금제 선택 → 결제 페이지 → 신용카드 결제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1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작 성 일 자: </a:t>
            </a:r>
            <a:r>
              <a:rPr sz="1400">
                <a:solidFill>
                  <a:srgbClr val="000000"/>
                </a:solidFill>
              </a:rPr>
              <a:t>2026. 03. 31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작 성 자: </a:t>
            </a:r>
            <a:r>
              <a:rPr sz="1400">
                <a:solidFill>
                  <a:srgbClr val="000000"/>
                </a:solidFill>
              </a:rPr>
              <a:t>김태민 (대표)</a:t>
            </a:r>
          </a:p>
        </p:txBody>
      </p:sp>
    </p:spTree>
    <p:extLst>
      <p:ext uri="{BB962C8B-B14F-4D97-AF65-F5344CB8AC3E}">
        <p14:creationId xmlns:p14="http://schemas.microsoft.com/office/powerpoint/2010/main" val="328752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① 사이트 메인 </a:t>
            </a:r>
            <a:r>
              <a:rPr lang="en-US" altLang="ko-KR" sz="1800" dirty="0" smtClean="0"/>
              <a:t>(URL</a:t>
            </a:r>
            <a:r>
              <a:rPr lang="ko-KR" altLang="en-US" sz="1800" dirty="0" smtClean="0"/>
              <a:t>노출 캡쳐</a:t>
            </a:r>
            <a:r>
              <a:rPr lang="en-US" altLang="ko-KR" sz="1800" dirty="0" smtClean="0"/>
              <a:t>)</a:t>
            </a:r>
            <a:endParaRPr lang="en-US" altLang="ko-KR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URL: https://www.bibllab.com</a:t>
            </a:r>
          </a:p>
        </p:txBody>
      </p:sp>
      <p:pic>
        <p:nvPicPr>
          <p:cNvPr id="5" name="Picture 4" descr="01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604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4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>
          <a:xfrm>
            <a:off x="411251" y="233272"/>
            <a:ext cx="9751651" cy="499973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② 사이트 메인</a:t>
            </a:r>
            <a:r>
              <a:rPr lang="en-US" altLang="ko-KR" dirty="0" smtClean="0"/>
              <a:t> </a:t>
            </a:r>
            <a:r>
              <a:rPr lang="ko-KR" altLang="en-US" sz="1800" dirty="0" err="1" smtClean="0"/>
              <a:t>하단정보</a:t>
            </a:r>
            <a:r>
              <a:rPr lang="ko-KR" altLang="en-US" sz="1800" dirty="0" smtClean="0"/>
              <a:t> </a:t>
            </a:r>
            <a:r>
              <a:rPr lang="en-US" altLang="ko-KR" sz="1000" b="0" dirty="0">
                <a:solidFill>
                  <a:srgbClr val="1543E7"/>
                </a:solidFill>
              </a:rPr>
              <a:t>※</a:t>
            </a:r>
            <a:r>
              <a:rPr lang="ko-KR" altLang="en-US" sz="1000" b="0" dirty="0">
                <a:solidFill>
                  <a:srgbClr val="1543E7"/>
                </a:solidFill>
              </a:rPr>
              <a:t> 상호명</a:t>
            </a:r>
            <a:r>
              <a:rPr lang="en-US" altLang="ko-KR" sz="1000" b="0" dirty="0">
                <a:solidFill>
                  <a:srgbClr val="1543E7"/>
                </a:solidFill>
              </a:rPr>
              <a:t>, </a:t>
            </a:r>
            <a:r>
              <a:rPr lang="ko-KR" altLang="en-US" sz="1000" b="0" dirty="0" err="1">
                <a:solidFill>
                  <a:srgbClr val="1543E7"/>
                </a:solidFill>
              </a:rPr>
              <a:t>사업자번호</a:t>
            </a:r>
            <a:r>
              <a:rPr lang="en-US" altLang="ko-KR" sz="1000" b="0" dirty="0">
                <a:solidFill>
                  <a:srgbClr val="1543E7"/>
                </a:solidFill>
              </a:rPr>
              <a:t>, </a:t>
            </a:r>
            <a:r>
              <a:rPr lang="ko-KR" altLang="en-US" sz="1000" b="0" dirty="0" err="1">
                <a:solidFill>
                  <a:srgbClr val="1543E7"/>
                </a:solidFill>
              </a:rPr>
              <a:t>유선번호</a:t>
            </a:r>
            <a:r>
              <a:rPr lang="en-US" altLang="ko-KR" sz="1000" b="0" dirty="0">
                <a:solidFill>
                  <a:srgbClr val="1543E7"/>
                </a:solidFill>
              </a:rPr>
              <a:t>, </a:t>
            </a:r>
            <a:r>
              <a:rPr lang="ko-KR" altLang="en-US" sz="1000" b="0" dirty="0">
                <a:solidFill>
                  <a:srgbClr val="1543E7"/>
                </a:solidFill>
              </a:rPr>
              <a:t>소재지</a:t>
            </a:r>
            <a:r>
              <a:rPr lang="en-US" altLang="ko-KR" sz="1000" b="0" dirty="0">
                <a:solidFill>
                  <a:srgbClr val="1543E7"/>
                </a:solidFill>
              </a:rPr>
              <a:t>, </a:t>
            </a:r>
            <a:r>
              <a:rPr lang="ko-KR" altLang="en-US" sz="1000" b="0" dirty="0">
                <a:solidFill>
                  <a:srgbClr val="1543E7"/>
                </a:solidFill>
              </a:rPr>
              <a:t>대표자명 기재 </a:t>
            </a:r>
            <a:r>
              <a:rPr lang="ko-KR" altLang="en-US" sz="1000" b="0" dirty="0" smtClean="0">
                <a:solidFill>
                  <a:srgbClr val="1543E7"/>
                </a:solidFill>
              </a:rPr>
              <a:t>必</a:t>
            </a:r>
            <a:endParaRPr lang="ko-KR" altLang="en-US" sz="1000" b="0" dirty="0">
              <a:solidFill>
                <a:srgbClr val="1543E7"/>
              </a:solidFill>
            </a:endParaRPr>
          </a:p>
        </p:txBody>
      </p:sp>
      <p:pic>
        <p:nvPicPr>
          <p:cNvPr id="4" name="Picture 3" descr="02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60436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✓ 상호명: 세모골프  ✓ 대표자명: 김태민  ✓ 사업자번호: 315-47-01018
✓ 유선전화: 070-8027-2532  ✓ 주소: 경기도 수원시 권선구 세화로 151번길 29-2 1층
✓ 통신판매업: 2023-수원권선-1549</a:t>
            </a:r>
          </a:p>
        </p:txBody>
      </p:sp>
    </p:spTree>
    <p:extLst>
      <p:ext uri="{BB962C8B-B14F-4D97-AF65-F5344CB8AC3E}">
        <p14:creationId xmlns:p14="http://schemas.microsoft.com/office/powerpoint/2010/main" val="310821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>
          <a:xfrm>
            <a:off x="411252" y="233272"/>
            <a:ext cx="7635468" cy="4999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③ 상품 결제 프로세스 </a:t>
            </a:r>
            <a:r>
              <a:rPr lang="en-US" altLang="ko-KR" sz="1000" b="0" dirty="0" smtClean="0">
                <a:solidFill>
                  <a:srgbClr val="1543E7"/>
                </a:solidFill>
              </a:rPr>
              <a:t>※ </a:t>
            </a:r>
            <a:r>
              <a:rPr lang="ko-KR" altLang="en-US" sz="1000" b="0" dirty="0" smtClean="0">
                <a:solidFill>
                  <a:srgbClr val="1543E7"/>
                </a:solidFill>
              </a:rPr>
              <a:t>결제 진행 상품 금액 동일 </a:t>
            </a:r>
            <a:r>
              <a:rPr lang="en-US" altLang="ko-KR" sz="1000" b="0" dirty="0" smtClean="0">
                <a:solidFill>
                  <a:srgbClr val="1543E7"/>
                </a:solidFill>
              </a:rPr>
              <a:t>/ </a:t>
            </a:r>
            <a:r>
              <a:rPr lang="ko-KR" altLang="en-US" sz="1000" b="0" dirty="0" smtClean="0">
                <a:solidFill>
                  <a:srgbClr val="1543E7"/>
                </a:solidFill>
              </a:rPr>
              <a:t>금액 임의 입력 불가</a:t>
            </a:r>
            <a:endParaRPr lang="en-US" altLang="ko-KR" sz="1000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6174378" y="148046"/>
            <a:ext cx="1872342" cy="435427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TEST ID : 테스트 계정 없이 이용 가능 (Google 소셜 로그인)</a:t>
            </a:r>
          </a:p>
          <a:p>
            <a:r>
              <a:rPr sz="1000"/>
              <a:t>TEST PW : Google 소셜 로그인 사용 (별도 비밀번호 없음)</a:t>
            </a:r>
            <a:endParaRPr lang="ko-KR" altLang="en-US" sz="1200" b="1" dirty="0"/>
          </a:p>
        </p:txBody>
      </p:sp>
      <p:pic>
        <p:nvPicPr>
          <p:cNvPr id="5" name="Picture 4" descr="03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114800" cy="2893219"/>
          </a:xfrm>
          <a:prstGeom prst="rect">
            <a:avLst/>
          </a:prstGeom>
        </p:spPr>
      </p:pic>
      <p:pic>
        <p:nvPicPr>
          <p:cNvPr id="6" name="Picture 5" descr="04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114800" cy="28932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유튜브 데이터 분석 SaaS 서비스(bibl lab) 월 정기구독 결제입니다.
요금제: Starter ₩49,000 / Pro ₩199,000 / Business ₩490,000 (월 구독형)</a:t>
            </a:r>
          </a:p>
        </p:txBody>
      </p:sp>
    </p:spTree>
    <p:extLst>
      <p:ext uri="{BB962C8B-B14F-4D97-AF65-F5344CB8AC3E}">
        <p14:creationId xmlns:p14="http://schemas.microsoft.com/office/powerpoint/2010/main" val="191728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신용카드 결제창 (다날 - danal_tpay) | https://www.bibllab.com/payment?plan=starter</a:t>
            </a:r>
          </a:p>
        </p:txBody>
      </p:sp>
      <p:pic>
        <p:nvPicPr>
          <p:cNvPr id="3" name="Picture 2" descr="05_danal_card_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7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7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카드사 인증창 (신한카드 선택 후) - 간편결제 / 다른결제 옵션 화면</a:t>
            </a:r>
          </a:p>
        </p:txBody>
      </p:sp>
      <p:pic>
        <p:nvPicPr>
          <p:cNvPr id="3" name="Picture 2" descr="06_danal_card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7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0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>
          <a:xfrm>
            <a:off x="411252" y="233272"/>
            <a:ext cx="6451102" cy="499973"/>
          </a:xfrm>
        </p:spPr>
        <p:txBody>
          <a:bodyPr/>
          <a:lstStyle/>
          <a:p>
            <a:r>
              <a:rPr lang="ko-KR" altLang="en-US" dirty="0" smtClean="0"/>
              <a:t>⑤ 각 카드사 </a:t>
            </a:r>
            <a:r>
              <a:rPr lang="ko-KR" altLang="en-US" dirty="0" err="1" smtClean="0"/>
              <a:t>인증창</a:t>
            </a:r>
            <a:r>
              <a:rPr lang="ko-KR" altLang="en-US" dirty="0" smtClean="0"/>
              <a:t> 호출</a:t>
            </a:r>
            <a:endParaRPr lang="en-US" altLang="ko-KR" sz="1000" dirty="0" smtClean="0">
              <a:solidFill>
                <a:srgbClr val="1543E7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18606" y="966651"/>
            <a:ext cx="2743200" cy="400594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안심클릭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하나</a:t>
            </a:r>
            <a:r>
              <a:rPr lang="en-US" altLang="ko-KR" b="1" dirty="0" smtClean="0"/>
              <a:t>/</a:t>
            </a:r>
            <a:r>
              <a:rPr lang="ko-KR" altLang="en-US" b="1" dirty="0" smtClean="0"/>
              <a:t>신한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44444"/>
                </a:solidFill>
              </a:rPr>
              <a:t>※ 카드사 인증창: 신한카드 선택 시 간편결제(SOL Pay 등) 및 앱없이결제/ARS결제 옵션 표시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6858000" cy="482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1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454435" y="3080658"/>
            <a:ext cx="3283130" cy="696685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66675" algn="ctr"/>
            <a:r>
              <a:rPr lang="ko-KR" altLang="en-US" sz="2000" b="1" spc="-80" dirty="0" smtClean="0">
                <a:latin typeface="굴림" panose="020B0600000101010101" pitchFamily="50" charset="-127"/>
                <a:cs typeface="굴림" panose="020B0600000101010101" pitchFamily="50" charset="-127"/>
              </a:rPr>
              <a:t>환금성</a:t>
            </a:r>
            <a:r>
              <a:rPr lang="en-US" altLang="ko-KR" sz="2000" b="1" spc="-80" dirty="0" smtClean="0">
                <a:latin typeface="굴림" panose="020B0600000101010101" pitchFamily="50" charset="-127"/>
                <a:cs typeface="굴림" panose="020B0600000101010101" pitchFamily="50" charset="-127"/>
              </a:rPr>
              <a:t>(</a:t>
            </a:r>
            <a:r>
              <a:rPr lang="ko-KR" altLang="en-US" sz="2000" b="1" spc="-80" dirty="0" err="1" smtClean="0">
                <a:latin typeface="굴림" panose="020B0600000101010101" pitchFamily="50" charset="-127"/>
                <a:cs typeface="굴림" panose="020B0600000101010101" pitchFamily="50" charset="-127"/>
              </a:rPr>
              <a:t>포인트충전</a:t>
            </a:r>
            <a:r>
              <a:rPr lang="en-US" altLang="ko-KR" sz="2000" b="1" spc="-80" dirty="0" smtClean="0">
                <a:latin typeface="굴림" panose="020B0600000101010101" pitchFamily="50" charset="-127"/>
                <a:cs typeface="굴림" panose="020B0600000101010101" pitchFamily="50" charset="-127"/>
              </a:rPr>
              <a:t>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42181" y="264466"/>
            <a:ext cx="11507639" cy="6329069"/>
          </a:xfrm>
          <a:prstGeom prst="rect">
            <a:avLst/>
          </a:prstGeom>
          <a:noFill/>
          <a:ln w="38100">
            <a:solidFill>
              <a:srgbClr val="5252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텍스트 개체 틀 2"/>
          <p:cNvSpPr txBox="1">
            <a:spLocks/>
          </p:cNvSpPr>
          <p:nvPr/>
        </p:nvSpPr>
        <p:spPr>
          <a:xfrm>
            <a:off x="4916963" y="3777343"/>
            <a:ext cx="2358074" cy="315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 smtClean="0">
                <a:solidFill>
                  <a:srgbClr val="1543E7"/>
                </a:solidFill>
              </a:rPr>
              <a:t>(</a:t>
            </a:r>
            <a:r>
              <a:rPr lang="ko-KR" altLang="en-US" sz="1000" b="1" dirty="0" smtClean="0">
                <a:solidFill>
                  <a:srgbClr val="1543E7"/>
                </a:solidFill>
              </a:rPr>
              <a:t>환금성 업종인 경우에만 작성</a:t>
            </a:r>
            <a:r>
              <a:rPr lang="en-US" altLang="ko-KR" sz="1000" b="1" dirty="0" smtClean="0">
                <a:solidFill>
                  <a:srgbClr val="1543E7"/>
                </a:solidFill>
              </a:rPr>
              <a:t>)</a:t>
            </a:r>
            <a:endParaRPr lang="en-US" altLang="ko-KR" sz="1000" b="1" dirty="0">
              <a:solidFill>
                <a:srgbClr val="1543E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310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▶ 포인트 </a:t>
            </a:r>
            <a:r>
              <a:rPr lang="ko-KR" altLang="en-US" dirty="0"/>
              <a:t>차감 </a:t>
            </a:r>
            <a:r>
              <a:rPr lang="ko-KR" altLang="en-US" dirty="0" smtClean="0"/>
              <a:t>프로세스 </a:t>
            </a:r>
            <a:r>
              <a:rPr lang="en-US" altLang="ko-KR" sz="1000" b="0" dirty="0" smtClean="0">
                <a:solidFill>
                  <a:srgbClr val="1543E7"/>
                </a:solidFill>
              </a:rPr>
              <a:t>(</a:t>
            </a:r>
            <a:r>
              <a:rPr lang="ko-KR" altLang="en-US" sz="1000" b="0" dirty="0" smtClean="0">
                <a:solidFill>
                  <a:srgbClr val="1543E7"/>
                </a:solidFill>
              </a:rPr>
              <a:t>환금성 업종인 경우에만 작성</a:t>
            </a:r>
            <a:r>
              <a:rPr lang="en-US" altLang="ko-KR" sz="1000" b="0" dirty="0" smtClean="0">
                <a:solidFill>
                  <a:srgbClr val="1543E7"/>
                </a:solidFill>
              </a:rPr>
              <a:t>)</a:t>
            </a:r>
            <a:endParaRPr lang="en-US" altLang="ko-KR" sz="1000" b="0" dirty="0">
              <a:solidFill>
                <a:srgbClr val="1543E7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2481" y="940526"/>
            <a:ext cx="2612570" cy="585199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66675"/>
            <a:r>
              <a:rPr lang="en-US" altLang="ko-KR" sz="1000" spc="-8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1) </a:t>
            </a:r>
            <a:r>
              <a:rPr lang="ko-KR" altLang="ko-KR" sz="1000" spc="-80" dirty="0">
                <a:latin typeface="굴림" panose="020B0600000101010101" pitchFamily="50" charset="-127"/>
                <a:cs typeface="굴림" panose="020B0600000101010101" pitchFamily="50" charset="-127"/>
              </a:rPr>
              <a:t>초기 포인트 잔액</a:t>
            </a:r>
            <a:endParaRPr lang="ko-KR" altLang="ko-KR" sz="1000" dirty="0"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pPr indent="66675"/>
            <a:r>
              <a:rPr lang="en-US" altLang="ko-KR" sz="1000" spc="-8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2) </a:t>
            </a:r>
            <a:r>
              <a:rPr lang="ko-KR" altLang="ko-KR" sz="1000" spc="-80" dirty="0">
                <a:latin typeface="굴림" panose="020B0600000101010101" pitchFamily="50" charset="-127"/>
                <a:cs typeface="굴림" panose="020B0600000101010101" pitchFamily="50" charset="-127"/>
              </a:rPr>
              <a:t>포인트 어떻게 </a:t>
            </a:r>
            <a:r>
              <a:rPr lang="ko-KR" altLang="ko-KR" sz="1000" spc="-80" dirty="0" smtClean="0">
                <a:latin typeface="굴림" panose="020B0600000101010101" pitchFamily="50" charset="-127"/>
                <a:cs typeface="굴림" panose="020B0600000101010101" pitchFamily="50" charset="-127"/>
              </a:rPr>
              <a:t>사용되는지</a:t>
            </a:r>
            <a:r>
              <a:rPr lang="en-US" altLang="ko-KR" sz="1000" spc="-80" dirty="0" smtClean="0">
                <a:latin typeface="굴림" panose="020B0600000101010101" pitchFamily="50" charset="-127"/>
                <a:cs typeface="굴림" panose="020B0600000101010101" pitchFamily="50" charset="-127"/>
              </a:rPr>
              <a:t> (</a:t>
            </a:r>
            <a:r>
              <a:rPr lang="ko-KR" altLang="ko-KR" sz="1000" spc="-80" dirty="0" err="1">
                <a:latin typeface="굴림" panose="020B0600000101010101" pitchFamily="50" charset="-127"/>
                <a:cs typeface="굴림" panose="020B0600000101010101" pitchFamily="50" charset="-127"/>
              </a:rPr>
              <a:t>사용예시</a:t>
            </a:r>
            <a:r>
              <a:rPr lang="en-US" altLang="ko-KR" sz="1000" spc="-80" dirty="0">
                <a:latin typeface="굴림" panose="020B0600000101010101" pitchFamily="50" charset="-127"/>
                <a:cs typeface="굴림" panose="020B0600000101010101" pitchFamily="50" charset="-127"/>
              </a:rPr>
              <a:t>)</a:t>
            </a:r>
            <a:endParaRPr lang="ko-KR" altLang="ko-KR" sz="1000" dirty="0"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pPr indent="66675"/>
            <a:r>
              <a:rPr lang="en-US" altLang="ko-KR" sz="1000" spc="-8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3) </a:t>
            </a:r>
            <a:r>
              <a:rPr lang="ko-KR" altLang="ko-KR" sz="1000" spc="-80" dirty="0">
                <a:latin typeface="굴림" panose="020B0600000101010101" pitchFamily="50" charset="-127"/>
                <a:cs typeface="굴림" panose="020B0600000101010101" pitchFamily="50" charset="-127"/>
              </a:rPr>
              <a:t>사용된 후 포인트 잔액</a:t>
            </a:r>
            <a:endParaRPr lang="ko-KR" altLang="ko-KR" sz="1000" dirty="0"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1900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▶ </a:t>
            </a:r>
            <a:r>
              <a:rPr lang="ko-KR" altLang="en-US" dirty="0" err="1" smtClean="0"/>
              <a:t>환불규정</a:t>
            </a:r>
            <a:r>
              <a:rPr lang="ko-KR" altLang="en-US" dirty="0" smtClean="0"/>
              <a:t> </a:t>
            </a:r>
            <a:r>
              <a:rPr lang="en-US" altLang="ko-KR" sz="1000" b="0" dirty="0" smtClean="0">
                <a:solidFill>
                  <a:srgbClr val="1543E7"/>
                </a:solidFill>
              </a:rPr>
              <a:t>(</a:t>
            </a:r>
            <a:r>
              <a:rPr lang="ko-KR" altLang="en-US" sz="1000" b="0" dirty="0" smtClean="0">
                <a:solidFill>
                  <a:srgbClr val="1543E7"/>
                </a:solidFill>
              </a:rPr>
              <a:t>환금성 업종인 경우에만 작성</a:t>
            </a:r>
            <a:r>
              <a:rPr lang="en-US" altLang="ko-KR" sz="1000" b="0" dirty="0" smtClean="0">
                <a:solidFill>
                  <a:srgbClr val="1543E7"/>
                </a:solidFill>
              </a:rPr>
              <a:t>)</a:t>
            </a:r>
            <a:endParaRPr lang="en-US" altLang="ko-KR" sz="1000" b="0" dirty="0">
              <a:solidFill>
                <a:srgbClr val="1543E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88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▶ 포인트 사용처 </a:t>
            </a:r>
            <a:r>
              <a:rPr lang="en-US" altLang="ko-KR" sz="1000" b="0" dirty="0" smtClean="0">
                <a:solidFill>
                  <a:srgbClr val="1543E7"/>
                </a:solidFill>
              </a:rPr>
              <a:t>(</a:t>
            </a:r>
            <a:r>
              <a:rPr lang="ko-KR" altLang="en-US" sz="1000" b="0" dirty="0" smtClean="0">
                <a:solidFill>
                  <a:srgbClr val="1543E7"/>
                </a:solidFill>
              </a:rPr>
              <a:t>환금성 업종인 경우에만 작성</a:t>
            </a:r>
            <a:r>
              <a:rPr lang="en-US" altLang="ko-KR" sz="1000" b="0" dirty="0" smtClean="0">
                <a:solidFill>
                  <a:srgbClr val="1543E7"/>
                </a:solidFill>
              </a:rPr>
              <a:t>)</a:t>
            </a:r>
            <a:endParaRPr lang="en-US" altLang="ko-KR" sz="1000" b="0" dirty="0">
              <a:solidFill>
                <a:srgbClr val="1543E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72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Corporate Introduction @ DANAL Co., Ltd. All Rights Reserved.</a:t>
            </a:r>
            <a:endParaRPr kumimoji="1" lang="en-US" altLang="ko-KR" dirty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54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270</Words>
  <Application>Microsoft Office PowerPoint</Application>
  <PresentationFormat>와이드스크린</PresentationFormat>
  <Paragraphs>30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굴림</vt:lpstr>
      <vt:lpstr>맑은 고딕</vt:lpstr>
      <vt:lpstr>Arial</vt:lpstr>
      <vt:lpstr>Calibri</vt:lpstr>
      <vt:lpstr>Times New Roman</vt:lpstr>
      <vt:lpstr>Wingdings 3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송미주</dc:creator>
  <cp:lastModifiedBy>송미주</cp:lastModifiedBy>
  <cp:revision>9</cp:revision>
  <dcterms:created xsi:type="dcterms:W3CDTF">2025-01-13T00:50:07Z</dcterms:created>
  <dcterms:modified xsi:type="dcterms:W3CDTF">2025-01-21T02:19:23Z</dcterms:modified>
</cp:coreProperties>
</file>